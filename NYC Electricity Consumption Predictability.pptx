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81" r:id="rId16"/>
    <p:sldId id="271" r:id="rId17"/>
    <p:sldId id="272" r:id="rId18"/>
    <p:sldId id="273" r:id="rId19"/>
    <p:sldId id="283" r:id="rId20"/>
    <p:sldId id="28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07" autoAdjust="0"/>
    <p:restoredTop sz="94660"/>
  </p:normalViewPr>
  <p:slideViewPr>
    <p:cSldViewPr snapToGrid="0">
      <p:cViewPr>
        <p:scale>
          <a:sx n="66" d="100"/>
          <a:sy n="66" d="100"/>
        </p:scale>
        <p:origin x="121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A9949-D3F8-4878-9CF9-1890A4CC9F6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84947-3117-430B-9619-3EE9FBAAF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2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1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2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3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47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2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9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5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5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9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9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9065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52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79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93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3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69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0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2D188-8F2A-4683-98A4-8D6C4E21FCA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ABEE3-8DE4-4D8A-A1AF-8DC54E5C7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8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1B9F-5806-02BF-33D5-48AAD5975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10820400" cy="1825096"/>
          </a:xfrm>
        </p:spPr>
        <p:txBody>
          <a:bodyPr>
            <a:normAutofit fontScale="90000"/>
          </a:bodyPr>
          <a:lstStyle/>
          <a:p>
            <a:r>
              <a:rPr lang="en-US" dirty="0"/>
              <a:t>NYC Electricity Consumption Predictability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CBE4D-EE7D-AFD9-EABA-92A1B0997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2432697"/>
          </a:xfrm>
        </p:spPr>
        <p:txBody>
          <a:bodyPr/>
          <a:lstStyle/>
          <a:p>
            <a:r>
              <a:rPr lang="en-US" dirty="0"/>
              <a:t>Time Series Forecasting using Facebook Prophet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r"/>
            <a:r>
              <a:rPr lang="en-US" sz="2400" b="1" dirty="0">
                <a:solidFill>
                  <a:srgbClr val="FFFF00"/>
                </a:solidFill>
              </a:rPr>
              <a:t>Muhammad </a:t>
            </a:r>
            <a:r>
              <a:rPr lang="en-US" sz="2400" b="1" dirty="0" err="1">
                <a:solidFill>
                  <a:srgbClr val="FFFF00"/>
                </a:solidFill>
              </a:rPr>
              <a:t>Ehtesham</a:t>
            </a:r>
            <a:endParaRPr lang="en-US" sz="2400" b="1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7D2E-E5DA-A82E-55C2-851233A2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 &amp; Goal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5EEC46-2BA2-AD4D-6278-48AE42F5A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776" y="2057401"/>
            <a:ext cx="86106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 Time Series Forecasting model using the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FBProphet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module to predict electricity consumption in New York 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Facebook’s Prophet, an additive model fitting non-linear trends with yearly, weekly, and daily seasonality.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Testing the model on three distinct time-series datasets: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Consumption.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Mean.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Yearly Mean.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8205E-3928-DBEB-6DBE-880178CA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4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9219-973D-3C63-32C8-9FDC1EA8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Data Preparation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C156E7-BEB1-7F29-F6E0-E18A4CD0B1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799" y="2857568"/>
            <a:ext cx="9577873" cy="269811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Steps: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Download daily dataset (~539K rows, 27 columns).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Create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monthly mean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dataset by averaging daily data per month.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Create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yearly mean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dataset by averaging daily data per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Format data for Prophet: two columns –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(date) and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(electric consumption).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8DE355-DB72-821E-F0C7-E4CD18D7A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3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4D741-8D52-4680-B41D-D4B5420D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&amp; Library Setup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ED5D51-53D6-A36E-B4CB-2F945DB9E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Libraries: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seaborn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 Engine: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prophet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model building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prophet.diagnostics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cross-validation.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sklearn.metrics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(MAE, MAPE, R²).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Tools: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statsmodels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ACF (Autocorrelation Function) analysis.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A17E69-2180-CFD1-3489-5737175E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5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A4DF-B093-E6C9-C56F-467CD26C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Loading &amp; Cleaning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147563-F816-C2C6-8490-0B7F9DF778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3190960"/>
            <a:ext cx="1084944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fetched directly from NYC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for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Handled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Converted date columns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service_start_date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revenue_month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datetime objects.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the primary metric: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total_electric_consumption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Cleaned data prepared in the required Prophet format (columns renamed to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date and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target).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87D42-5842-57EA-860F-9E857EE96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7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9B9EF-F7F2-39B7-4456-098DC662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761A6E-8775-398F-DB1B-A2B16498D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122464"/>
            <a:ext cx="8582799" cy="4168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Tuning: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Configurations included growth settings, seasonality handling, and trend changepoints.</a:t>
            </a:r>
          </a:p>
          <a:p>
            <a:pPr marL="457200" lvl="1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growth (logistic, linear, flat)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Seasonality via 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add_seasonality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 lvl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n_changepoints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&amp; 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changepoint_prior_scale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Multi-Period Forecasting Strategy: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Daily: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Predicted for 100, 200, and 365 days into the future.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Monthly: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Forecasted for 1, 6, and 9 months.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Yearly: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Long-term projections for 1, 10, and 20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A070C-0AD2-B74C-99AC-F751E8645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0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A596-4CDE-79DE-8393-CBE68F2B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Data Cleaning and Preprocessing</a:t>
            </a:r>
            <a:b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EE029415-7851-2E19-A6EC-771E6313B4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84" y="2193925"/>
            <a:ext cx="10142632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B306C7-6EE2-0E71-E54E-F7EE8F1A7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42" y="185497"/>
            <a:ext cx="6330182" cy="20084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56E85D-234C-2C19-3665-0443B2E67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2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5E2A-B283-E94E-0C8B-2AEA8599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CREATING AGGREGATED DATASETS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67EA2BA-0EED-E8ED-F198-38E642EE48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25" y="2193925"/>
            <a:ext cx="11546540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EF5E67-7836-B678-22E6-FA358DAB9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46" y="158855"/>
            <a:ext cx="5234842" cy="189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9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0A57-419A-AB34-B9F5-1631EC71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Daily Data Forecasting</a:t>
            </a:r>
            <a:b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B80FED4-F8AF-2FD3-F306-51DAACBB83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327" y="2193925"/>
            <a:ext cx="6750483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6C99CA-7CE8-B875-0075-4A7BD36F6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473326" cy="3330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627244-A10E-926B-5394-8B95E4709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4133"/>
            <a:ext cx="4473328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2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274C-C543-1F3A-86A1-8B53DCF2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1222" y="477502"/>
            <a:ext cx="7615518" cy="1293028"/>
          </a:xfrm>
        </p:spPr>
        <p:txBody>
          <a:bodyPr/>
          <a:lstStyle/>
          <a:p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Monthly Data Forecasting</a:t>
            </a:r>
            <a:b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F50A665-87B4-DF11-F584-9FAAF1EFD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099915"/>
            <a:ext cx="4431222" cy="2758085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240067-B575-EE7F-B396-54BB581F9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" y="0"/>
            <a:ext cx="4431179" cy="4252328"/>
          </a:xfrm>
          <a:prstGeom prst="rect">
            <a:avLst/>
          </a:prstGeom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AD3E546C-C11D-CA75-8F43-B06098512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220" y="1111624"/>
            <a:ext cx="7760779" cy="554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125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F9A8-B89F-D1FA-C459-DE44F953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427264"/>
            <a:ext cx="8610600" cy="1293028"/>
          </a:xfrm>
        </p:spPr>
        <p:txBody>
          <a:bodyPr/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Yearly Average NYC Electricity Consumption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7B21A0-703F-A229-5E48-878C333C8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020658"/>
            <a:ext cx="3703641" cy="2837342"/>
          </a:xfr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2ADEBC96-4EFA-C690-239D-DE8A982F8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640" y="1737360"/>
            <a:ext cx="8488359" cy="523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18BC3F-A5D8-A722-9BD1-4582EE6B0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53"/>
            <a:ext cx="3741933" cy="401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0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1D13-463B-C350-3103-B9C9BEB6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Model Comparison and Analysis</a:t>
            </a:r>
            <a:b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C90E54C-FEF3-4CCF-2282-1708BCBD2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58645"/>
            <a:ext cx="5867400" cy="402431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7958C1-4E4F-9062-CFC0-1A3005B8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858645"/>
            <a:ext cx="5455920" cy="16841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643966-A29F-1A8C-A4B4-3F7712FB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3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E90E6-5DFC-8328-4F42-972BD8DD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87BCC-EFBC-8C09-FB06-85FA174E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D1AA1FE-FBC5-7687-DF8B-435454F08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374"/>
            <a:ext cx="12192000" cy="609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22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928E-DD2B-240B-8F1A-6D18137C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Extra Credit - Realistic Borough-wise Analysis</a:t>
            </a:r>
            <a:br>
              <a:rPr lang="en-US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A09C70-5481-AF39-B17A-8FF087C44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5240"/>
            <a:ext cx="3446314" cy="40243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834897-AD6F-B658-5181-0D122F571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9073"/>
            <a:ext cx="3446314" cy="2711767"/>
          </a:xfrm>
          <a:prstGeom prst="rect">
            <a:avLst/>
          </a:prstGeom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ED7E5B50-E498-6B36-9EC8-0AE1B6C03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314" y="1645920"/>
            <a:ext cx="8745686" cy="501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021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4D21-495E-DB5A-58C2-2465B1DC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79FF26CD-9BF1-1DB8-B6D9-BB4A3D006D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885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EECC-3ADE-0475-FF90-BDA422E9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rgbClr val="82B76C"/>
                </a:solidFill>
                <a:effectLst/>
                <a:latin typeface="Courier New" panose="02070309020205020404" pitchFamily="49" charset="0"/>
              </a:rPr>
              <a:t>Borough-wise Analysis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149A63-2595-A953-47CA-A44DF008B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3718560" cy="3093720"/>
          </a:xfrm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3AA34A48-CB2B-7A11-1E9F-1AD95C369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60" y="1889760"/>
            <a:ext cx="8473440" cy="477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B6D0F3-D266-2D7B-2A16-9C9CAF38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87040"/>
            <a:ext cx="3718560" cy="38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03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6C87-FDED-E5A4-6E9B-2A3E7D60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BOROUGH COMPARISON SUMMARY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88BDC0-F809-8D79-2209-68DAAF92B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010882"/>
            <a:ext cx="12192000" cy="3847118"/>
          </a:xfrm>
        </p:spPr>
      </p:pic>
    </p:spTree>
    <p:extLst>
      <p:ext uri="{BB962C8B-B14F-4D97-AF65-F5344CB8AC3E}">
        <p14:creationId xmlns:p14="http://schemas.microsoft.com/office/powerpoint/2010/main" val="3325920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1E87-2A73-0F1B-BCDD-BAA94047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CE011-7D01-294B-C80D-2031495B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307"/>
            <a:ext cx="12192000" cy="354930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2DC94-270E-63FB-541F-1AFFCC7FF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348072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3FB2E7-BD05-28D9-0EE3-08DFF78A9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0880"/>
            <a:ext cx="12192000" cy="367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51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1c07-7df2-8ae9-8000-0000daf81e63.png?kimi-sig=Wlmz6dVjz2AXBBVc_ev99jTCxOVITu_cp-1hcMA2e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261866-DFC7-3712-21D4-91456C2B9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1c0f-21f2-868a-8000-000001a10597.png?kimi-sig=Vvs3uvupbcB-P2Up9oGmVYT-RljBtlQvN5HhQRHMFS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3024A5-AE5C-2349-1FF9-808AC766B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258</TotalTime>
  <Words>396</Words>
  <Application>Microsoft Office PowerPoint</Application>
  <PresentationFormat>Widescreen</PresentationFormat>
  <Paragraphs>59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Arial Unicode MS</vt:lpstr>
      <vt:lpstr>Century Gothic</vt:lpstr>
      <vt:lpstr>Courier New</vt:lpstr>
      <vt:lpstr>Menlo</vt:lpstr>
      <vt:lpstr>quote-cjk-patch</vt:lpstr>
      <vt:lpstr>Vapor Trail</vt:lpstr>
      <vt:lpstr>NYC Electricity Consumption Predictability</vt:lpstr>
      <vt:lpstr>Project Overview &amp; Goal </vt:lpstr>
      <vt:lpstr>Data Preparation </vt:lpstr>
      <vt:lpstr>Environment &amp; Library Setup</vt:lpstr>
      <vt:lpstr>Data Loading &amp; Cleaning</vt:lpstr>
      <vt:lpstr>Forecasting Methodology</vt:lpstr>
      <vt:lpstr>Data Cleaning and Preprocessing </vt:lpstr>
      <vt:lpstr>CREATING AGGREGATED DATASETS</vt:lpstr>
      <vt:lpstr>Daily Data Forecasting </vt:lpstr>
      <vt:lpstr>Monthly Data Forecasting </vt:lpstr>
      <vt:lpstr>Yearly Average NYC Electricity Consumption</vt:lpstr>
      <vt:lpstr>Model Comparison and Analysis </vt:lpstr>
      <vt:lpstr>  </vt:lpstr>
      <vt:lpstr>Extra Credit - Realistic Borough-wise Analysis </vt:lpstr>
      <vt:lpstr>PowerPoint Presentation</vt:lpstr>
      <vt:lpstr>Borough-wise Analysis</vt:lpstr>
      <vt:lpstr>BOROUGH COMPARISON 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Sham</dc:creator>
  <cp:lastModifiedBy>M Sham</cp:lastModifiedBy>
  <cp:revision>1</cp:revision>
  <dcterms:created xsi:type="dcterms:W3CDTF">2025-12-18T12:57:07Z</dcterms:created>
  <dcterms:modified xsi:type="dcterms:W3CDTF">2025-12-18T17:15:15Z</dcterms:modified>
</cp:coreProperties>
</file>